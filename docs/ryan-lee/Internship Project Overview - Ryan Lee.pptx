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Urbanist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UrbanistMedium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7074c5c7e2_0_2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7074c5c7e2_0_2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7074c5c7e2_0_2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7074c5c7e2_0_2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7074c5c7e2_0_2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7074c5c7e2_0_2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7074c5c7e2_0_2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37074c5c7e2_0_2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709f027a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709f027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ortal.stedi.com/app/guides/view/hipaa/health-care-eligibility-benefit-inquiry-x279a1/01GRYB6GTDJ4MEP5Z16CGMQWT6#properties.detail.properties.information_source_level_HL_loop.items.properties.information_receiver_level_HL_loop.items.properties.subscriber_level_HL_loop.items.properties.subscriber_trace_number_TRN" TargetMode="External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ortal.stedi.com/app/guides/view/hipaa" TargetMode="External"/><Relationship Id="rId4" Type="http://schemas.openxmlformats.org/officeDocument/2006/relationships/hyperlink" Target="https://edination.com/#tab_ediJs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idx="1" type="subTitle"/>
          </p:nvPr>
        </p:nvSpPr>
        <p:spPr>
          <a:xfrm>
            <a:off x="284700" y="2574275"/>
            <a:ext cx="5464200" cy="2359200"/>
          </a:xfrm>
          <a:prstGeom prst="rect">
            <a:avLst/>
          </a:prstGeom>
        </p:spPr>
        <p:txBody>
          <a:bodyPr anchorCtr="0" anchor="t" bIns="91425" lIns="91425" spcFirstLastPara="1" rIns="11485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 a large volume of various EDI files to test the VA processing program written in Python using an abstract database.  This helps ensure the system can reliably handle production-level traffic and safeguards uninterrupted access to the healthcare access that the millions of veterans rely 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4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 Test Data Library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5" title="Database-Relationshi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550" y="301392"/>
            <a:ext cx="4914301" cy="449613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5"/>
          <p:cNvSpPr txBox="1"/>
          <p:nvPr>
            <p:ph type="title"/>
          </p:nvPr>
        </p:nvSpPr>
        <p:spPr>
          <a:xfrm>
            <a:off x="308500" y="257862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</p:txBody>
      </p:sp>
      <p:sp>
        <p:nvSpPr>
          <p:cNvPr id="581" name="Google Shape;581;p55"/>
          <p:cNvSpPr txBox="1"/>
          <p:nvPr>
            <p:ph idx="1" type="subTitle"/>
          </p:nvPr>
        </p:nvSpPr>
        <p:spPr>
          <a:xfrm>
            <a:off x="284700" y="1095978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generation</a:t>
            </a:r>
            <a:endParaRPr/>
          </a:p>
        </p:txBody>
      </p:sp>
      <p:sp>
        <p:nvSpPr>
          <p:cNvPr id="582" name="Google Shape;582;p55"/>
          <p:cNvSpPr txBox="1"/>
          <p:nvPr>
            <p:ph idx="2" type="subTitle"/>
          </p:nvPr>
        </p:nvSpPr>
        <p:spPr>
          <a:xfrm>
            <a:off x="284700" y="1511575"/>
            <a:ext cx="2593500" cy="800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Generates realistic fake sponsors and beneficiaries for use in EDI files.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supports the ability to insert custom values via CSV</a:t>
            </a:r>
            <a:endParaRPr/>
          </a:p>
        </p:txBody>
      </p:sp>
      <p:sp>
        <p:nvSpPr>
          <p:cNvPr id="583" name="Google Shape;583;p55"/>
          <p:cNvSpPr txBox="1"/>
          <p:nvPr>
            <p:ph idx="3" type="subTitle"/>
          </p:nvPr>
        </p:nvSpPr>
        <p:spPr>
          <a:xfrm>
            <a:off x="284699" y="2396528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Speed</a:t>
            </a:r>
            <a:endParaRPr/>
          </a:p>
        </p:txBody>
      </p:sp>
      <p:sp>
        <p:nvSpPr>
          <p:cNvPr id="584" name="Google Shape;584;p55"/>
          <p:cNvSpPr txBox="1"/>
          <p:nvPr>
            <p:ph idx="4" type="subTitle"/>
          </p:nvPr>
        </p:nvSpPr>
        <p:spPr>
          <a:xfrm>
            <a:off x="284700" y="2812125"/>
            <a:ext cx="2593500" cy="800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Generates 100,000 beneficiaries, 120,000 claim transactions, and 5,000 EDI files of each kind within 2 minutes (depends on hardware)</a:t>
            </a:r>
            <a:endParaRPr/>
          </a:p>
        </p:txBody>
      </p:sp>
      <p:sp>
        <p:nvSpPr>
          <p:cNvPr id="585" name="Google Shape;585;p55"/>
          <p:cNvSpPr txBox="1"/>
          <p:nvPr>
            <p:ph idx="5" type="subTitle"/>
          </p:nvPr>
        </p:nvSpPr>
        <p:spPr>
          <a:xfrm>
            <a:off x="284699" y="3612528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Dataflow</a:t>
            </a:r>
            <a:endParaRPr/>
          </a:p>
        </p:txBody>
      </p:sp>
      <p:sp>
        <p:nvSpPr>
          <p:cNvPr id="586" name="Google Shape;586;p55"/>
          <p:cNvSpPr txBox="1"/>
          <p:nvPr>
            <p:ph idx="6" type="subTitle"/>
          </p:nvPr>
        </p:nvSpPr>
        <p:spPr>
          <a:xfrm>
            <a:off x="284700" y="4028125"/>
            <a:ext cx="2593500" cy="800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Maintains consistent data state across files. A beneficiary used in a 270 will be reused in related files such as the 837 or 277 to ensure continuity</a:t>
            </a:r>
            <a:endParaRPr/>
          </a:p>
        </p:txBody>
      </p:sp>
      <p:sp>
        <p:nvSpPr>
          <p:cNvPr id="587" name="Google Shape;587;p55"/>
          <p:cNvSpPr txBox="1"/>
          <p:nvPr>
            <p:ph type="title"/>
          </p:nvPr>
        </p:nvSpPr>
        <p:spPr>
          <a:xfrm>
            <a:off x="3918250" y="3899200"/>
            <a:ext cx="1880700" cy="82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Entity Relationship Diagram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2" name="Google Shape;592;p56"/>
          <p:cNvCxnSpPr/>
          <p:nvPr/>
        </p:nvCxnSpPr>
        <p:spPr>
          <a:xfrm>
            <a:off x="331300" y="1959225"/>
            <a:ext cx="85281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3" name="Google Shape;593;p56"/>
          <p:cNvSpPr/>
          <p:nvPr/>
        </p:nvSpPr>
        <p:spPr>
          <a:xfrm flipH="1" rot="-5400000">
            <a:off x="8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p56"/>
          <p:cNvSpPr/>
          <p:nvPr/>
        </p:nvSpPr>
        <p:spPr>
          <a:xfrm flipH="1" rot="-5400000">
            <a:off x="1779019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56"/>
          <p:cNvSpPr/>
          <p:nvPr/>
        </p:nvSpPr>
        <p:spPr>
          <a:xfrm flipH="1" rot="-5400000">
            <a:off x="3545408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56"/>
          <p:cNvSpPr/>
          <p:nvPr/>
        </p:nvSpPr>
        <p:spPr>
          <a:xfrm flipH="1" rot="-5400000">
            <a:off x="5305846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56"/>
          <p:cNvSpPr/>
          <p:nvPr/>
        </p:nvSpPr>
        <p:spPr>
          <a:xfrm flipH="1" rot="-5400000">
            <a:off x="7050850" y="1673689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 Workflow</a:t>
            </a:r>
            <a:endParaRPr/>
          </a:p>
        </p:txBody>
      </p:sp>
      <p:sp>
        <p:nvSpPr>
          <p:cNvPr id="599" name="Google Shape;599;p56"/>
          <p:cNvSpPr txBox="1"/>
          <p:nvPr>
            <p:ph idx="1" type="subTitle"/>
          </p:nvPr>
        </p:nvSpPr>
        <p:spPr>
          <a:xfrm>
            <a:off x="271250" y="2269625"/>
            <a:ext cx="14250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Eligibility Inquiry (270)</a:t>
            </a:r>
            <a:endParaRPr/>
          </a:p>
        </p:txBody>
      </p:sp>
      <p:sp>
        <p:nvSpPr>
          <p:cNvPr id="600" name="Google Shape;600;p56"/>
          <p:cNvSpPr txBox="1"/>
          <p:nvPr>
            <p:ph idx="2" type="subTitle"/>
          </p:nvPr>
        </p:nvSpPr>
        <p:spPr>
          <a:xfrm>
            <a:off x="2030600" y="2269625"/>
            <a:ext cx="14718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Claim (837)</a:t>
            </a:r>
            <a:endParaRPr/>
          </a:p>
        </p:txBody>
      </p:sp>
      <p:sp>
        <p:nvSpPr>
          <p:cNvPr id="601" name="Google Shape;601;p56"/>
          <p:cNvSpPr txBox="1"/>
          <p:nvPr>
            <p:ph idx="3" type="subTitle"/>
          </p:nvPr>
        </p:nvSpPr>
        <p:spPr>
          <a:xfrm>
            <a:off x="3795500" y="2269625"/>
            <a:ext cx="17082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/>
              <a:t>Claim Acknowledgement (277CA)</a:t>
            </a:r>
            <a:endParaRPr/>
          </a:p>
        </p:txBody>
      </p:sp>
      <p:sp>
        <p:nvSpPr>
          <p:cNvPr id="602" name="Google Shape;602;p56"/>
          <p:cNvSpPr txBox="1"/>
          <p:nvPr>
            <p:ph idx="4" type="subTitle"/>
          </p:nvPr>
        </p:nvSpPr>
        <p:spPr>
          <a:xfrm>
            <a:off x="5556425" y="2269625"/>
            <a:ext cx="16035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Healthcare Payment (835)</a:t>
            </a:r>
            <a:endParaRPr/>
          </a:p>
        </p:txBody>
      </p:sp>
      <p:sp>
        <p:nvSpPr>
          <p:cNvPr id="603" name="Google Shape;603;p5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 Update (834)</a:t>
            </a:r>
            <a:endParaRPr/>
          </a:p>
        </p:txBody>
      </p:sp>
      <p:sp>
        <p:nvSpPr>
          <p:cNvPr id="604" name="Google Shape;604;p5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Sponsor and beneficiary information generated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- Claim transaction information generated</a:t>
            </a:r>
            <a:endParaRPr/>
          </a:p>
        </p:txBody>
      </p:sp>
      <p:sp>
        <p:nvSpPr>
          <p:cNvPr id="605" name="Google Shape;605;p56"/>
          <p:cNvSpPr txBox="1"/>
          <p:nvPr>
            <p:ph idx="7" type="body"/>
          </p:nvPr>
        </p:nvSpPr>
        <p:spPr>
          <a:xfrm>
            <a:off x="2028225" y="3263075"/>
            <a:ext cx="154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Uses </a:t>
            </a:r>
            <a:r>
              <a:rPr lang="en"/>
              <a:t>sponsor and beneficiary information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- Uses claim control numbers </a:t>
            </a:r>
            <a:endParaRPr/>
          </a:p>
        </p:txBody>
      </p:sp>
      <p:sp>
        <p:nvSpPr>
          <p:cNvPr id="606" name="Google Shape;606;p56"/>
          <p:cNvSpPr txBox="1"/>
          <p:nvPr>
            <p:ph idx="8" type="body"/>
          </p:nvPr>
        </p:nvSpPr>
        <p:spPr>
          <a:xfrm>
            <a:off x="3785175" y="3263075"/>
            <a:ext cx="15492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Uses claim control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- Uses claim payment amount</a:t>
            </a:r>
            <a:endParaRPr/>
          </a:p>
        </p:txBody>
      </p:sp>
      <p:sp>
        <p:nvSpPr>
          <p:cNvPr id="607" name="Google Shape;607;p56"/>
          <p:cNvSpPr txBox="1"/>
          <p:nvPr>
            <p:ph idx="9" type="body"/>
          </p:nvPr>
        </p:nvSpPr>
        <p:spPr>
          <a:xfrm>
            <a:off x="5542151" y="3263075"/>
            <a:ext cx="15660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Uses claim control numbers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- Uses claim payment amount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5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- Uses sponsor and beneficiary to update the values (deductibles/visits used)</a:t>
            </a:r>
            <a:endParaRPr/>
          </a:p>
        </p:txBody>
      </p:sp>
      <p:sp>
        <p:nvSpPr>
          <p:cNvPr id="609" name="Google Shape;609;p5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Checks beneficiary’s eligibility for healthcare services with a payer</a:t>
            </a:r>
            <a:endParaRPr/>
          </a:p>
        </p:txBody>
      </p:sp>
      <p:sp>
        <p:nvSpPr>
          <p:cNvPr id="610" name="Google Shape;610;p5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839"/>
              <a:t>Submits healthcare claims for services performed</a:t>
            </a:r>
            <a:endParaRPr sz="839"/>
          </a:p>
        </p:txBody>
      </p:sp>
      <p:sp>
        <p:nvSpPr>
          <p:cNvPr id="611" name="Google Shape;611;p5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820"/>
              <a:t>Acknowledges receipt and processing of 837</a:t>
            </a:r>
            <a:endParaRPr sz="820"/>
          </a:p>
        </p:txBody>
      </p:sp>
      <p:sp>
        <p:nvSpPr>
          <p:cNvPr id="612" name="Google Shape;612;p5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800"/>
              <a:t>Communicates payment details and adjustments</a:t>
            </a:r>
            <a:endParaRPr sz="800"/>
          </a:p>
        </p:txBody>
      </p:sp>
      <p:sp>
        <p:nvSpPr>
          <p:cNvPr id="613" name="Google Shape;613;p5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810"/>
              <a:t>Updates beneficiary enrollment data</a:t>
            </a:r>
            <a:endParaRPr sz="8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Challenges/Learnings</a:t>
            </a:r>
            <a:endParaRPr/>
          </a:p>
        </p:txBody>
      </p:sp>
      <p:sp>
        <p:nvSpPr>
          <p:cNvPr id="619" name="Google Shape;619;p57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3"/>
              </a:rPr>
              <a:t>EDI File Format</a:t>
            </a:r>
            <a:endParaRPr/>
          </a:p>
        </p:txBody>
      </p:sp>
      <p:sp>
        <p:nvSpPr>
          <p:cNvPr id="620" name="Google Shape;620;p57"/>
          <p:cNvSpPr txBox="1"/>
          <p:nvPr>
            <p:ph idx="2" type="subTitle"/>
          </p:nvPr>
        </p:nvSpPr>
        <p:spPr>
          <a:xfrm>
            <a:off x="284700" y="3432400"/>
            <a:ext cx="2037000" cy="1416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the EDI file format was initially tough, but once I started working with it more, it made more and more sense.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file </a:t>
            </a:r>
            <a:r>
              <a:rPr lang="en"/>
              <a:t>consists</a:t>
            </a:r>
            <a:r>
              <a:rPr lang="en"/>
              <a:t> of an envelope and within the envelopes there are transactions that consist of loops which has information within them</a:t>
            </a:r>
            <a:endParaRPr/>
          </a:p>
        </p:txBody>
      </p:sp>
      <p:sp>
        <p:nvSpPr>
          <p:cNvPr id="621" name="Google Shape;621;p57"/>
          <p:cNvSpPr txBox="1"/>
          <p:nvPr>
            <p:ph idx="3" type="subTitle"/>
          </p:nvPr>
        </p:nvSpPr>
        <p:spPr>
          <a:xfrm>
            <a:off x="3069525" y="3105475"/>
            <a:ext cx="2833800" cy="3561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Charter Requirements</a:t>
            </a:r>
            <a:endParaRPr/>
          </a:p>
        </p:txBody>
      </p:sp>
      <p:sp>
        <p:nvSpPr>
          <p:cNvPr id="622" name="Google Shape;622;p57"/>
          <p:cNvSpPr txBox="1"/>
          <p:nvPr>
            <p:ph idx="4" type="subTitle"/>
          </p:nvPr>
        </p:nvSpPr>
        <p:spPr>
          <a:xfrm>
            <a:off x="3069524" y="3432410"/>
            <a:ext cx="1970400" cy="1262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 for the project can change abruptly and the ability to adapt is really important. A big change was maintaining state between files. Originally created just 834 and didn’t store information</a:t>
            </a:r>
            <a:endParaRPr/>
          </a:p>
        </p:txBody>
      </p:sp>
      <p:sp>
        <p:nvSpPr>
          <p:cNvPr id="623" name="Google Shape;623;p57"/>
          <p:cNvSpPr txBox="1"/>
          <p:nvPr>
            <p:ph idx="5" type="subTitle"/>
          </p:nvPr>
        </p:nvSpPr>
        <p:spPr>
          <a:xfrm>
            <a:off x="6366999" y="30150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  <p:sp>
        <p:nvSpPr>
          <p:cNvPr id="624" name="Google Shape;624;p57"/>
          <p:cNvSpPr txBox="1"/>
          <p:nvPr>
            <p:ph idx="6" type="subTitle"/>
          </p:nvPr>
        </p:nvSpPr>
        <p:spPr>
          <a:xfrm>
            <a:off x="6366999" y="3430610"/>
            <a:ext cx="1970400" cy="954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initial documentation was really minimal so I had to take a step back and reconsider how someone with no knowledge of my program would begin to use it</a:t>
            </a:r>
            <a:endParaRPr/>
          </a:p>
        </p:txBody>
      </p:sp>
      <p:sp>
        <p:nvSpPr>
          <p:cNvPr id="625" name="Google Shape;625;p57"/>
          <p:cNvSpPr/>
          <p:nvPr/>
        </p:nvSpPr>
        <p:spPr>
          <a:xfrm rot="10800000">
            <a:off x="284698" y="2065651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6" name="Google Shape;626;p57"/>
          <p:cNvSpPr/>
          <p:nvPr/>
        </p:nvSpPr>
        <p:spPr>
          <a:xfrm rot="-5400000">
            <a:off x="284699" y="257414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7" name="Google Shape;627;p57"/>
          <p:cNvSpPr/>
          <p:nvPr/>
        </p:nvSpPr>
        <p:spPr>
          <a:xfrm>
            <a:off x="791999" y="2574151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8" name="Google Shape;628;p57"/>
          <p:cNvSpPr/>
          <p:nvPr/>
        </p:nvSpPr>
        <p:spPr>
          <a:xfrm rot="-5400000">
            <a:off x="3071610" y="2063851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9" name="Google Shape;629;p57"/>
          <p:cNvSpPr/>
          <p:nvPr/>
        </p:nvSpPr>
        <p:spPr>
          <a:xfrm rot="-5400000">
            <a:off x="3069524" y="257414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7"/>
          <p:cNvSpPr/>
          <p:nvPr/>
        </p:nvSpPr>
        <p:spPr>
          <a:xfrm>
            <a:off x="3069524" y="2065651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57"/>
          <p:cNvSpPr/>
          <p:nvPr/>
        </p:nvSpPr>
        <p:spPr>
          <a:xfrm>
            <a:off x="6368198" y="2063851"/>
            <a:ext cx="1015800" cy="1015800"/>
          </a:xfrm>
          <a:prstGeom prst="pie">
            <a:avLst>
              <a:gd fmla="val 0" name="adj1"/>
              <a:gd fmla="val 1081321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57"/>
          <p:cNvSpPr/>
          <p:nvPr/>
        </p:nvSpPr>
        <p:spPr>
          <a:xfrm rot="-5400000">
            <a:off x="6366999" y="2063847"/>
            <a:ext cx="507300" cy="50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3" name="Google Shape;633;p57"/>
          <p:cNvSpPr/>
          <p:nvPr/>
        </p:nvSpPr>
        <p:spPr>
          <a:xfrm>
            <a:off x="6876699" y="2063851"/>
            <a:ext cx="507300" cy="50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34" name="Google Shape;63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5129" y="286204"/>
            <a:ext cx="2874199" cy="156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Stedi</a:t>
            </a:r>
            <a:r>
              <a:rPr lang="en"/>
              <a:t> – HIPAA X12 requirements</a:t>
            </a:r>
            <a:endParaRPr/>
          </a:p>
        </p:txBody>
      </p:sp>
      <p:sp>
        <p:nvSpPr>
          <p:cNvPr id="640" name="Google Shape;640;p5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EDINation -- EDI file validator</a:t>
            </a:r>
            <a:endParaRPr/>
          </a:p>
        </p:txBody>
      </p:sp>
      <p:sp>
        <p:nvSpPr>
          <p:cNvPr id="642" name="Google Shape;642;p5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